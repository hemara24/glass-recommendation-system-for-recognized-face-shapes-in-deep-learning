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6" r:id="rId5"/>
    <p:sldId id="257" r:id="rId6"/>
    <p:sldId id="256" r:id="rId7"/>
    <p:sldId id="278" r:id="rId8"/>
    <p:sldId id="279" r:id="rId9"/>
    <p:sldId id="258" r:id="rId10"/>
    <p:sldId id="287" r:id="rId11"/>
    <p:sldId id="288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211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D6026A-D7A2-4948-A46D-9BDDD1DCA8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75ED331-A2B7-4B38-85C7-D8F365065B1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1. Product Name </a:t>
          </a:r>
        </a:p>
      </dgm:t>
    </dgm:pt>
    <dgm:pt modelId="{A8DE79E4-D84C-4851-9ADF-686CF9257CB7}" type="parTrans" cxnId="{B410F39C-BAD4-4F2D-9787-A032622CE8E7}">
      <dgm:prSet/>
      <dgm:spPr/>
      <dgm:t>
        <a:bodyPr/>
        <a:lstStyle/>
        <a:p>
          <a:endParaRPr lang="en-US"/>
        </a:p>
      </dgm:t>
    </dgm:pt>
    <dgm:pt modelId="{F960E8A4-2BE0-42C0-8814-23D489D220A4}" type="sibTrans" cxnId="{B410F39C-BAD4-4F2D-9787-A032622CE8E7}">
      <dgm:prSet/>
      <dgm:spPr/>
      <dgm:t>
        <a:bodyPr/>
        <a:lstStyle/>
        <a:p>
          <a:endParaRPr lang="en-US"/>
        </a:p>
      </dgm:t>
    </dgm:pt>
    <dgm:pt modelId="{46336AC3-2C46-4984-AD86-DD3F41081D5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2. Problem Statement</a:t>
          </a:r>
        </a:p>
      </dgm:t>
    </dgm:pt>
    <dgm:pt modelId="{8E15B7A1-CF9B-4CB6-BAB0-AE29BF06F605}" type="parTrans" cxnId="{4C943B99-5552-4A8F-9D0B-1FC0E5B10A46}">
      <dgm:prSet/>
      <dgm:spPr/>
      <dgm:t>
        <a:bodyPr/>
        <a:lstStyle/>
        <a:p>
          <a:endParaRPr lang="en-US"/>
        </a:p>
      </dgm:t>
    </dgm:pt>
    <dgm:pt modelId="{C53243F6-0E68-464D-AF90-6C5F5662D648}" type="sibTrans" cxnId="{4C943B99-5552-4A8F-9D0B-1FC0E5B10A46}">
      <dgm:prSet/>
      <dgm:spPr/>
      <dgm:t>
        <a:bodyPr/>
        <a:lstStyle/>
        <a:p>
          <a:endParaRPr lang="en-US"/>
        </a:p>
      </dgm:t>
    </dgm:pt>
    <dgm:pt modelId="{FCF196FC-25EA-412B-AF29-3865ECB3498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3. Target Users</a:t>
          </a:r>
        </a:p>
      </dgm:t>
    </dgm:pt>
    <dgm:pt modelId="{90711F81-EB05-4652-ACF4-802839EB960B}" type="parTrans" cxnId="{B7C02C03-65A4-47EF-86A5-72B1E3C5E627}">
      <dgm:prSet/>
      <dgm:spPr/>
      <dgm:t>
        <a:bodyPr/>
        <a:lstStyle/>
        <a:p>
          <a:endParaRPr lang="en-US"/>
        </a:p>
      </dgm:t>
    </dgm:pt>
    <dgm:pt modelId="{842C68A9-9FD3-4089-AA25-0CEECDCD9B36}" type="sibTrans" cxnId="{B7C02C03-65A4-47EF-86A5-72B1E3C5E627}">
      <dgm:prSet/>
      <dgm:spPr/>
      <dgm:t>
        <a:bodyPr/>
        <a:lstStyle/>
        <a:p>
          <a:endParaRPr lang="en-US"/>
        </a:p>
      </dgm:t>
    </dgm:pt>
    <dgm:pt modelId="{DB3F7CF2-8592-477A-9EE6-14A680D1BC1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4. Business Impact</a:t>
          </a:r>
        </a:p>
      </dgm:t>
    </dgm:pt>
    <dgm:pt modelId="{5097E448-7368-41DD-B3B7-AD60B0D38CF8}" type="parTrans" cxnId="{B847EFFB-66A6-450B-A109-D8E0656B3850}">
      <dgm:prSet/>
      <dgm:spPr/>
      <dgm:t>
        <a:bodyPr/>
        <a:lstStyle/>
        <a:p>
          <a:endParaRPr lang="en-US"/>
        </a:p>
      </dgm:t>
    </dgm:pt>
    <dgm:pt modelId="{F02C6F61-F244-4D61-9BF4-42F0D8202E37}" type="sibTrans" cxnId="{B847EFFB-66A6-450B-A109-D8E0656B3850}">
      <dgm:prSet/>
      <dgm:spPr/>
      <dgm:t>
        <a:bodyPr/>
        <a:lstStyle/>
        <a:p>
          <a:endParaRPr lang="en-US"/>
        </a:p>
      </dgm:t>
    </dgm:pt>
    <dgm:pt modelId="{DB6568DB-DFEA-4916-BAEF-AE9ED1F0859C}" type="pres">
      <dgm:prSet presAssocID="{79D6026A-D7A2-4948-A46D-9BDDD1DCA8B5}" presName="linear" presStyleCnt="0">
        <dgm:presLayoutVars>
          <dgm:animLvl val="lvl"/>
          <dgm:resizeHandles val="exact"/>
        </dgm:presLayoutVars>
      </dgm:prSet>
      <dgm:spPr/>
    </dgm:pt>
    <dgm:pt modelId="{6DC35F34-CCF9-4A0F-ADFF-FFEB95DFD5F5}" type="pres">
      <dgm:prSet presAssocID="{C75ED331-A2B7-4B38-85C7-D8F365065B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E45FBD-657B-44D2-8057-4CA6C1CB4783}" type="pres">
      <dgm:prSet presAssocID="{F960E8A4-2BE0-42C0-8814-23D489D220A4}" presName="spacer" presStyleCnt="0"/>
      <dgm:spPr/>
    </dgm:pt>
    <dgm:pt modelId="{81913894-07DD-40FB-B83E-2AA1FC3A7B3D}" type="pres">
      <dgm:prSet presAssocID="{46336AC3-2C46-4984-AD86-DD3F41081D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C0967C-E321-48AB-8E33-DE5DF1155CE5}" type="pres">
      <dgm:prSet presAssocID="{C53243F6-0E68-464D-AF90-6C5F5662D648}" presName="spacer" presStyleCnt="0"/>
      <dgm:spPr/>
    </dgm:pt>
    <dgm:pt modelId="{135DA13A-70F0-4869-8BEA-0CC223875BCA}" type="pres">
      <dgm:prSet presAssocID="{FCF196FC-25EA-412B-AF29-3865ECB349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35ABD0-B13F-4884-8D95-38E89B0B9CA6}" type="pres">
      <dgm:prSet presAssocID="{842C68A9-9FD3-4089-AA25-0CEECDCD9B36}" presName="spacer" presStyleCnt="0"/>
      <dgm:spPr/>
    </dgm:pt>
    <dgm:pt modelId="{2965F14F-6507-493E-ABC5-8EF90D91FA93}" type="pres">
      <dgm:prSet presAssocID="{DB3F7CF2-8592-477A-9EE6-14A680D1BC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7C02C03-65A4-47EF-86A5-72B1E3C5E627}" srcId="{79D6026A-D7A2-4948-A46D-9BDDD1DCA8B5}" destId="{FCF196FC-25EA-412B-AF29-3865ECB3498B}" srcOrd="2" destOrd="0" parTransId="{90711F81-EB05-4652-ACF4-802839EB960B}" sibTransId="{842C68A9-9FD3-4089-AA25-0CEECDCD9B36}"/>
    <dgm:cxn modelId="{20A31D30-0B0B-48E6-85ED-053575E083D2}" type="presOf" srcId="{46336AC3-2C46-4984-AD86-DD3F41081D51}" destId="{81913894-07DD-40FB-B83E-2AA1FC3A7B3D}" srcOrd="0" destOrd="0" presId="urn:microsoft.com/office/officeart/2005/8/layout/vList2"/>
    <dgm:cxn modelId="{546D4A4E-D8FB-4DF1-B744-EC0F85EBC579}" type="presOf" srcId="{79D6026A-D7A2-4948-A46D-9BDDD1DCA8B5}" destId="{DB6568DB-DFEA-4916-BAEF-AE9ED1F0859C}" srcOrd="0" destOrd="0" presId="urn:microsoft.com/office/officeart/2005/8/layout/vList2"/>
    <dgm:cxn modelId="{00BFC97B-EC99-4D45-AB3F-111AA86CF67C}" type="presOf" srcId="{FCF196FC-25EA-412B-AF29-3865ECB3498B}" destId="{135DA13A-70F0-4869-8BEA-0CC223875BCA}" srcOrd="0" destOrd="0" presId="urn:microsoft.com/office/officeart/2005/8/layout/vList2"/>
    <dgm:cxn modelId="{4C943B99-5552-4A8F-9D0B-1FC0E5B10A46}" srcId="{79D6026A-D7A2-4948-A46D-9BDDD1DCA8B5}" destId="{46336AC3-2C46-4984-AD86-DD3F41081D51}" srcOrd="1" destOrd="0" parTransId="{8E15B7A1-CF9B-4CB6-BAB0-AE29BF06F605}" sibTransId="{C53243F6-0E68-464D-AF90-6C5F5662D648}"/>
    <dgm:cxn modelId="{B410F39C-BAD4-4F2D-9787-A032622CE8E7}" srcId="{79D6026A-D7A2-4948-A46D-9BDDD1DCA8B5}" destId="{C75ED331-A2B7-4B38-85C7-D8F365065B19}" srcOrd="0" destOrd="0" parTransId="{A8DE79E4-D84C-4851-9ADF-686CF9257CB7}" sibTransId="{F960E8A4-2BE0-42C0-8814-23D489D220A4}"/>
    <dgm:cxn modelId="{FF68BCBF-02BA-417F-AFD2-130F1D7C22C9}" type="presOf" srcId="{DB3F7CF2-8592-477A-9EE6-14A680D1BC12}" destId="{2965F14F-6507-493E-ABC5-8EF90D91FA93}" srcOrd="0" destOrd="0" presId="urn:microsoft.com/office/officeart/2005/8/layout/vList2"/>
    <dgm:cxn modelId="{9E8D21E5-6676-41E2-A049-7AF9298EF10F}" type="presOf" srcId="{C75ED331-A2B7-4B38-85C7-D8F365065B19}" destId="{6DC35F34-CCF9-4A0F-ADFF-FFEB95DFD5F5}" srcOrd="0" destOrd="0" presId="urn:microsoft.com/office/officeart/2005/8/layout/vList2"/>
    <dgm:cxn modelId="{B847EFFB-66A6-450B-A109-D8E0656B3850}" srcId="{79D6026A-D7A2-4948-A46D-9BDDD1DCA8B5}" destId="{DB3F7CF2-8592-477A-9EE6-14A680D1BC12}" srcOrd="3" destOrd="0" parTransId="{5097E448-7368-41DD-B3B7-AD60B0D38CF8}" sibTransId="{F02C6F61-F244-4D61-9BF4-42F0D8202E37}"/>
    <dgm:cxn modelId="{BB3125D4-A0C4-4B77-943F-3AE14A7E3AFA}" type="presParOf" srcId="{DB6568DB-DFEA-4916-BAEF-AE9ED1F0859C}" destId="{6DC35F34-CCF9-4A0F-ADFF-FFEB95DFD5F5}" srcOrd="0" destOrd="0" presId="urn:microsoft.com/office/officeart/2005/8/layout/vList2"/>
    <dgm:cxn modelId="{9C64EFBF-152E-4615-8100-69618A41E17F}" type="presParOf" srcId="{DB6568DB-DFEA-4916-BAEF-AE9ED1F0859C}" destId="{26E45FBD-657B-44D2-8057-4CA6C1CB4783}" srcOrd="1" destOrd="0" presId="urn:microsoft.com/office/officeart/2005/8/layout/vList2"/>
    <dgm:cxn modelId="{8ECD75F9-8BA1-4513-9677-8D35E65D6ADA}" type="presParOf" srcId="{DB6568DB-DFEA-4916-BAEF-AE9ED1F0859C}" destId="{81913894-07DD-40FB-B83E-2AA1FC3A7B3D}" srcOrd="2" destOrd="0" presId="urn:microsoft.com/office/officeart/2005/8/layout/vList2"/>
    <dgm:cxn modelId="{FE2E09B1-3DB8-4B5F-A464-873D749DE9E9}" type="presParOf" srcId="{DB6568DB-DFEA-4916-BAEF-AE9ED1F0859C}" destId="{ABC0967C-E321-48AB-8E33-DE5DF1155CE5}" srcOrd="3" destOrd="0" presId="urn:microsoft.com/office/officeart/2005/8/layout/vList2"/>
    <dgm:cxn modelId="{D3A68829-42C7-4AB6-819B-19D966D7DBD9}" type="presParOf" srcId="{DB6568DB-DFEA-4916-BAEF-AE9ED1F0859C}" destId="{135DA13A-70F0-4869-8BEA-0CC223875BCA}" srcOrd="4" destOrd="0" presId="urn:microsoft.com/office/officeart/2005/8/layout/vList2"/>
    <dgm:cxn modelId="{5D37977D-6418-4A46-B2F4-E479E42C6BAD}" type="presParOf" srcId="{DB6568DB-DFEA-4916-BAEF-AE9ED1F0859C}" destId="{3635ABD0-B13F-4884-8D95-38E89B0B9CA6}" srcOrd="5" destOrd="0" presId="urn:microsoft.com/office/officeart/2005/8/layout/vList2"/>
    <dgm:cxn modelId="{59FE2A5D-FE2F-4DB3-B7AC-8B5874B79559}" type="presParOf" srcId="{DB6568DB-DFEA-4916-BAEF-AE9ED1F0859C}" destId="{2965F14F-6507-493E-ABC5-8EF90D91FA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35F34-CCF9-4A0F-ADFF-FFEB95DFD5F5}">
      <dsp:nvSpPr>
        <dsp:cNvPr id="0" name=""/>
        <dsp:cNvSpPr/>
      </dsp:nvSpPr>
      <dsp:spPr>
        <a:xfrm>
          <a:off x="0" y="30245"/>
          <a:ext cx="728821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1. Product Name </a:t>
          </a:r>
        </a:p>
      </dsp:txBody>
      <dsp:txXfrm>
        <a:off x="37467" y="67712"/>
        <a:ext cx="7213278" cy="692586"/>
      </dsp:txXfrm>
    </dsp:sp>
    <dsp:sp modelId="{81913894-07DD-40FB-B83E-2AA1FC3A7B3D}">
      <dsp:nvSpPr>
        <dsp:cNvPr id="0" name=""/>
        <dsp:cNvSpPr/>
      </dsp:nvSpPr>
      <dsp:spPr>
        <a:xfrm>
          <a:off x="0" y="889925"/>
          <a:ext cx="728821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2. Problem Statement</a:t>
          </a:r>
        </a:p>
      </dsp:txBody>
      <dsp:txXfrm>
        <a:off x="37467" y="927392"/>
        <a:ext cx="7213278" cy="692586"/>
      </dsp:txXfrm>
    </dsp:sp>
    <dsp:sp modelId="{135DA13A-70F0-4869-8BEA-0CC223875BCA}">
      <dsp:nvSpPr>
        <dsp:cNvPr id="0" name=""/>
        <dsp:cNvSpPr/>
      </dsp:nvSpPr>
      <dsp:spPr>
        <a:xfrm>
          <a:off x="0" y="1749605"/>
          <a:ext cx="728821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3. Target Users</a:t>
          </a:r>
        </a:p>
      </dsp:txBody>
      <dsp:txXfrm>
        <a:off x="37467" y="1787072"/>
        <a:ext cx="7213278" cy="692586"/>
      </dsp:txXfrm>
    </dsp:sp>
    <dsp:sp modelId="{2965F14F-6507-493E-ABC5-8EF90D91FA93}">
      <dsp:nvSpPr>
        <dsp:cNvPr id="0" name=""/>
        <dsp:cNvSpPr/>
      </dsp:nvSpPr>
      <dsp:spPr>
        <a:xfrm>
          <a:off x="0" y="2609285"/>
          <a:ext cx="728821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4. Business Impact</a:t>
          </a:r>
        </a:p>
      </dsp:txBody>
      <dsp:txXfrm>
        <a:off x="37467" y="2646752"/>
        <a:ext cx="7213278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DFE6272-5940-964E-5A96-16837A33F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804410" cy="4927600"/>
          </a:xfrm>
        </p:spPr>
        <p:txBody>
          <a:bodyPr anchor="b">
            <a:normAutofit/>
          </a:bodyPr>
          <a:lstStyle/>
          <a:p>
            <a:pPr algn="ctr"/>
            <a:br>
              <a:rPr lang="en-US" sz="1700" b="1" dirty="0"/>
            </a:br>
            <a:r>
              <a:rPr lang="en-US" b="1" dirty="0">
                <a:latin typeface="Agency FB" panose="020B0503020202020204" pitchFamily="34" charset="0"/>
              </a:rPr>
              <a:t>LOOK</a:t>
            </a:r>
            <a:r>
              <a:rPr lang="en-US" dirty="0">
                <a:latin typeface="Agency FB" panose="020B0503020202020204" pitchFamily="34" charset="0"/>
              </a:rPr>
              <a:t>: EYE GLASS RECOMMENDATION SYSTEM  BASED ON FACE SHAPE USING CNN MODEL</a:t>
            </a:r>
            <a:br>
              <a:rPr lang="en-US" sz="1700" dirty="0"/>
            </a:br>
            <a:br>
              <a:rPr lang="en-US" sz="1700" dirty="0"/>
            </a:b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                                012-Hemara </a:t>
            </a:r>
            <a:br>
              <a:rPr lang="en-US" sz="1700" dirty="0"/>
            </a:br>
            <a:r>
              <a:rPr lang="en-US" sz="1700" dirty="0"/>
              <a:t>                                013-Hamdha</a:t>
            </a:r>
            <a:br>
              <a:rPr lang="en-US" sz="1700" dirty="0"/>
            </a:br>
            <a:r>
              <a:rPr lang="en-US" sz="1700" dirty="0"/>
              <a:t>                               014-Lakshika</a:t>
            </a:r>
            <a:br>
              <a:rPr lang="en-US" sz="1700" dirty="0"/>
            </a:br>
            <a:br>
              <a:rPr lang="en-US" sz="1700" dirty="0"/>
            </a:br>
            <a:br>
              <a:rPr lang="en-US" sz="1700" dirty="0"/>
            </a:br>
            <a:endParaRPr lang="en-US" sz="1700" dirty="0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92A95F0-9F27-5213-F36A-98E6A61D21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6" name="Picture 5" descr="A person holding a poster of glasses&#10;&#10;Description automatically generated">
            <a:extLst>
              <a:ext uri="{FF2B5EF4-FFF2-40B4-BE49-F238E27FC236}">
                <a16:creationId xmlns:a16="http://schemas.microsoft.com/office/drawing/2014/main" id="{048EE343-D579-CFF0-B187-9F67630E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5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21C2AB9-373D-2D24-156D-42D6D103F1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1775705"/>
              </p:ext>
            </p:extLst>
          </p:nvPr>
        </p:nvGraphicFramePr>
        <p:xfrm>
          <a:off x="1322388" y="2763078"/>
          <a:ext cx="7288212" cy="3407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 fontScale="90000"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LOOK</a:t>
            </a:r>
            <a:br>
              <a:rPr lang="en-US" sz="2000" dirty="0"/>
            </a:br>
            <a:r>
              <a:rPr lang="en-US" sz="2000" dirty="0"/>
              <a:t>helps you find your look, try your look, </a:t>
            </a:r>
            <a:br>
              <a:rPr lang="en-US" sz="2000" dirty="0"/>
            </a:br>
            <a:r>
              <a:rPr lang="en-US" sz="2000" dirty="0"/>
              <a:t>and own your look</a:t>
            </a:r>
          </a:p>
        </p:txBody>
      </p:sp>
      <p:pic>
        <p:nvPicPr>
          <p:cNvPr id="6" name="Picture 5" descr="A close-up of a person's eye&#10;&#10;Description automatically generated">
            <a:extLst>
              <a:ext uri="{FF2B5EF4-FFF2-40B4-BE49-F238E27FC236}">
                <a16:creationId xmlns:a16="http://schemas.microsoft.com/office/drawing/2014/main" id="{F2B5A9C3-EEA5-ABDF-362F-A03477891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86" r="10092" b="2"/>
          <a:stretch>
            <a:fillRect/>
          </a:stretch>
        </p:blipFill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noFill/>
          <a:ln>
            <a:noFill/>
          </a:ln>
          <a:effectLst>
            <a:softEdge rad="112500"/>
          </a:effectLst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21081F6-A2B5-2146-84A7-44564816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B76E67D-8658-85F5-4ABC-DC9F2921D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747" b="27308"/>
          <a:stretch>
            <a:fillRect/>
          </a:stretch>
        </p:blipFill>
        <p:spPr>
          <a:xfrm>
            <a:off x="5453725" y="3660774"/>
            <a:ext cx="5907176" cy="2536826"/>
          </a:xfrm>
          <a:prstGeom prst="rect">
            <a:avLst/>
          </a:prstGeom>
          <a:noFill/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2560" y="264160"/>
            <a:ext cx="5334000" cy="6045200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b="1" dirty="0"/>
              <a:t>As a Verb</a:t>
            </a:r>
            <a:r>
              <a:rPr lang="en-US" sz="2400" dirty="0"/>
              <a:t>: "Take a LOOK at these glasses" - The action of searching, exploring, and discovering eyewear options.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b="1" dirty="0"/>
              <a:t>As a Noun</a:t>
            </a:r>
            <a:r>
              <a:rPr lang="en-US" sz="2400" dirty="0"/>
              <a:t>: “Your perfect LOOK" – The final style, appearance, and confidence that comes from wearing well fitted glasses.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L</a:t>
            </a:r>
            <a:r>
              <a:rPr lang="en-US" sz="1800" dirty="0"/>
              <a:t> - Learning (Deep Learning/CNN)</a:t>
            </a:r>
            <a:br>
              <a:rPr lang="en-US" sz="1800" dirty="0"/>
            </a:br>
            <a:r>
              <a:rPr lang="en-US" sz="1800" b="1" dirty="0"/>
              <a:t>O</a:t>
            </a:r>
            <a:r>
              <a:rPr lang="en-US" sz="1800" dirty="0"/>
              <a:t> - Optical (Eyewear focus)  </a:t>
            </a:r>
            <a:br>
              <a:rPr lang="en-US" sz="1800" dirty="0"/>
            </a:br>
            <a:r>
              <a:rPr lang="en-US" sz="1800" b="1" dirty="0"/>
              <a:t>O</a:t>
            </a:r>
            <a:r>
              <a:rPr lang="en-US" sz="1800" dirty="0"/>
              <a:t> - Optimization (Perfect fit)</a:t>
            </a:r>
            <a:br>
              <a:rPr lang="en-US" sz="1800" dirty="0"/>
            </a:br>
            <a:r>
              <a:rPr lang="en-US" sz="1800" b="1" dirty="0"/>
              <a:t>K</a:t>
            </a:r>
            <a:r>
              <a:rPr lang="en-US" sz="1800" dirty="0"/>
              <a:t> - Knowledge (AI-powered insights)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4" name="Picture 3" descr="A person with curly hair wearing glasses&#10;&#10;Description automatically generated">
            <a:extLst>
              <a:ext uri="{FF2B5EF4-FFF2-40B4-BE49-F238E27FC236}">
                <a16:creationId xmlns:a16="http://schemas.microsoft.com/office/drawing/2014/main" id="{E94C5C19-521D-A3D8-F0CB-F6368917D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89272"/>
            <a:ext cx="4844716" cy="318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20" y="4582160"/>
            <a:ext cx="11094720" cy="985520"/>
          </a:xfrm>
        </p:spPr>
        <p:txBody>
          <a:bodyPr>
            <a:normAutofit fontScale="90000"/>
          </a:bodyPr>
          <a:lstStyle/>
          <a:p>
            <a:br>
              <a:rPr lang="en-US" sz="2400" dirty="0"/>
            </a:br>
            <a:r>
              <a:rPr lang="en-US" sz="2400" dirty="0"/>
              <a:t> </a:t>
            </a:r>
            <a:r>
              <a:rPr lang="en-US" sz="2800" b="1" dirty="0">
                <a:latin typeface="Agency FB" panose="020B0503020202020204" pitchFamily="34" charset="0"/>
              </a:rPr>
              <a:t>PROBLEM Statement</a:t>
            </a: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Agency FB" panose="020B0503020202020204" pitchFamily="34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Aldhabi" panose="020F0502020204030204" pitchFamily="2" charset="-78"/>
                <a:ea typeface="Ami R" panose="02030504000101010101" pitchFamily="18" charset="-127"/>
                <a:cs typeface="Aldhabi" panose="020F0502020204030204" pitchFamily="2" charset="-78"/>
              </a:rPr>
            </a:br>
            <a:br>
              <a:rPr lang="en-US" sz="2400" dirty="0"/>
            </a:br>
            <a:r>
              <a:rPr lang="en-US" sz="2800" dirty="0">
                <a:latin typeface="Aldhabi" panose="020F0502020204030204" pitchFamily="2" charset="-78"/>
                <a:ea typeface="Ami R" panose="02030504000101010101" pitchFamily="18" charset="-127"/>
                <a:cs typeface="Aldhabi" panose="020F0502020204030204" pitchFamily="2" charset="-78"/>
              </a:rPr>
              <a:t> LOOK uses deep learning to analyze facial geometry and provide personalized virtual try-on recommendations, eliminating guesswork from eyewear shopping.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582D72-5867-4AEC-B8AF-D76280474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621105"/>
              </p:ext>
            </p:extLst>
          </p:nvPr>
        </p:nvGraphicFramePr>
        <p:xfrm>
          <a:off x="1412240" y="2052320"/>
          <a:ext cx="8128000" cy="229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424848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53301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ONLINE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IN-STORE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27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25-30% return rate due to wrong fit (National Retail Federation-2023)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a long time for decision &amp; wasting Staff’s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947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Can’t try before buying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Overwhelm and fatigue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personalized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Suboptimal purchases due to rush decision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598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sz="3600" dirty="0"/>
              <a:t>Target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8080" y="2702560"/>
            <a:ext cx="7462520" cy="346756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Primary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Online Eyewear Shoppers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In-Store Optical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2.  Secondary Users: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Eyewear Retailers.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dirty="0"/>
              <a:t>Optical Industry Professionals.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 descr="A group of people standing in a circle&#10;&#10;Description automatically generated">
            <a:extLst>
              <a:ext uri="{FF2B5EF4-FFF2-40B4-BE49-F238E27FC236}">
                <a16:creationId xmlns:a16="http://schemas.microsoft.com/office/drawing/2014/main" id="{A572AC79-977B-7D46-C3FA-15F2AF773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077" y="1676400"/>
            <a:ext cx="45815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3727-4B68-5E79-252C-7D58834C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/>
          <a:p>
            <a:r>
              <a:rPr lang="en-US" sz="4000"/>
              <a:t>Business impact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E3E57DC-BD26-6A45-4703-BA614DD57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3040" y="2590801"/>
            <a:ext cx="8087360" cy="3556000"/>
          </a:xfrm>
        </p:spPr>
        <p:txBody>
          <a:bodyPr>
            <a:normAutofit/>
          </a:bodyPr>
          <a:lstStyle/>
          <a:p>
            <a:r>
              <a:rPr lang="en-US"/>
              <a:t>1. Cost Reduction.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Reduced return processing costs.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Lower inventory holding costs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Decreased Marketing waste.</a:t>
            </a:r>
          </a:p>
          <a:p>
            <a:endParaRPr lang="en-US"/>
          </a:p>
          <a:p>
            <a:r>
              <a:rPr lang="en-US"/>
              <a:t>2. Efficiency Improvement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Staff time optimization.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Sales process streamlining.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/>
              <a:t>Inventory management.</a:t>
            </a:r>
          </a:p>
          <a:p>
            <a:pPr marL="342900" indent="-342900">
              <a:buFont typeface="+mj-lt"/>
              <a:buAutoNum type="alphaUcPeriod"/>
            </a:pPr>
            <a:endParaRPr lang="en-US"/>
          </a:p>
          <a:p>
            <a:endParaRPr lang="en-US"/>
          </a:p>
          <a:p>
            <a:pPr marL="342900" indent="-342900">
              <a:buFont typeface="+mj-lt"/>
              <a:buAutoNum type="alphaU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FF6F0-3F10-0E5F-8964-DF243CDE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5" name="Picture 4" descr="A computer with cart and boxes around it&#10;&#10;Description automatically generated">
            <a:extLst>
              <a:ext uri="{FF2B5EF4-FFF2-40B4-BE49-F238E27FC236}">
                <a16:creationId xmlns:a16="http://schemas.microsoft.com/office/drawing/2014/main" id="{36D626A3-EBD4-D3B7-4594-0E068D42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60" y="1889759"/>
            <a:ext cx="3868419" cy="386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9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AE81-649A-D3B7-7CC4-E7DEDA6AF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1615439"/>
            <a:ext cx="7012940" cy="4740909"/>
          </a:xfrm>
        </p:spPr>
        <p:txBody>
          <a:bodyPr/>
          <a:lstStyle/>
          <a:p>
            <a:r>
              <a:rPr lang="en-US" dirty="0"/>
              <a:t>3. Enhanced Customer Experience.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Confidence Purchases.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Personalization and education.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Accessibility and Convenience.</a:t>
            </a:r>
          </a:p>
          <a:p>
            <a:endParaRPr lang="en-US" dirty="0"/>
          </a:p>
          <a:p>
            <a:r>
              <a:rPr lang="en-US" dirty="0"/>
              <a:t>4. Social Impact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Makes eyewear accessible to rural customers via system.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Reduces shopping stress and decision fatigue.</a:t>
            </a:r>
          </a:p>
          <a:p>
            <a:pPr marL="342900" indent="-342900">
              <a:buFont typeface="+mj-lt"/>
              <a:buAutoNum type="alphaUcPeriod"/>
            </a:pPr>
            <a:r>
              <a:rPr lang="en-US" b="0" dirty="0"/>
              <a:t>Builds digital literacy across age groups.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CDC8E-22D0-5A0A-B12A-DF22F10A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finger touching a check mark&#10;&#10;Description automatically generated">
            <a:extLst>
              <a:ext uri="{FF2B5EF4-FFF2-40B4-BE49-F238E27FC236}">
                <a16:creationId xmlns:a16="http://schemas.microsoft.com/office/drawing/2014/main" id="{5059E0D1-1A98-49E6-C7AC-063B979C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8" y="301366"/>
            <a:ext cx="4836162" cy="341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12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0854-770B-7C14-F1D2-FC517E9BC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0" y="314960"/>
            <a:ext cx="10637520" cy="2275840"/>
          </a:xfrm>
        </p:spPr>
        <p:txBody>
          <a:bodyPr/>
          <a:lstStyle/>
          <a:p>
            <a:r>
              <a:rPr lang="en-US" sz="3200" dirty="0">
                <a:latin typeface="Algerian" panose="04020705040A02060702" pitchFamily="82" charset="0"/>
              </a:rPr>
              <a:t>How LOOK Works: </a:t>
            </a:r>
            <a:br>
              <a:rPr lang="en-US" sz="3200" dirty="0">
                <a:latin typeface="Algerian" panose="04020705040A02060702" pitchFamily="82" charset="0"/>
              </a:rPr>
            </a:br>
            <a:br>
              <a:rPr lang="en-US" sz="3200" dirty="0">
                <a:latin typeface="Algerian" panose="04020705040A02060702" pitchFamily="82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B2DA880-D0C2-4E52-0B56-566F9A2D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50" y="-162560"/>
            <a:ext cx="6913810" cy="702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3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AEF1538-5D7C-1D03-95C9-9632C7EDA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760" y="2523604"/>
            <a:ext cx="7345680" cy="1524735"/>
          </a:xfrm>
        </p:spPr>
        <p:txBody>
          <a:bodyPr anchor="b">
            <a:normAutofit fontScale="90000"/>
          </a:bodyPr>
          <a:lstStyle/>
          <a:p>
            <a:r>
              <a:rPr lang="en-US" sz="6600" b="1" dirty="0"/>
              <a:t>Thank you!</a:t>
            </a:r>
            <a:br>
              <a:rPr lang="en-US" sz="2500" dirty="0"/>
            </a:br>
            <a:r>
              <a:rPr lang="en-US" sz="2500" dirty="0"/>
              <a:t>Stay tuned to discover your perfect look.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4BACF78-1493-499C-DCE0-F76F7CA0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34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{A28EB082-33B4-4014-9BF0-BA70A40B6BB5}TF7521aafa-c748-4c40-a498-ba511be234dc5b1b6097_win32-5039330bb2f3</Template>
  <TotalTime>385</TotalTime>
  <Words>370</Words>
  <Application>Microsoft Office PowerPoint</Application>
  <PresentationFormat>Widescreen</PresentationFormat>
  <Paragraphs>59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Agency FB</vt:lpstr>
      <vt:lpstr>Aldhabi</vt:lpstr>
      <vt:lpstr>Algerian</vt:lpstr>
      <vt:lpstr>Arial</vt:lpstr>
      <vt:lpstr>Calibri</vt:lpstr>
      <vt:lpstr>Tenorite</vt:lpstr>
      <vt:lpstr>Times New Roman</vt:lpstr>
      <vt:lpstr>Custom</vt:lpstr>
      <vt:lpstr> LOOK: EYE GLASS RECOMMENDATION SYSTEM  BASED ON FACE SHAPE USING CNN MODEL                                    012-Hemara                                  013-Hamdha                                014-Lakshika   </vt:lpstr>
      <vt:lpstr>Contents</vt:lpstr>
      <vt:lpstr>LOOK helps you find your look, try your look,  and own your look</vt:lpstr>
      <vt:lpstr> As a Verb: "Take a LOOK at these glasses" - The action of searching, exploring, and discovering eyewear options.   As a Noun: “Your perfect LOOK" – The final style, appearance, and confidence that comes from wearing well fitted glasses.  L - Learning (Deep Learning/CNN) O - Optical (Eyewear focus)   O - Optimization (Perfect fit) K - Knowledge (AI-powered insights) </vt:lpstr>
      <vt:lpstr>  PROBLEM Statement           LOOK uses deep learning to analyze facial geometry and provide personalized virtual try-on recommendations, eliminating guesswork from eyewear shopping.</vt:lpstr>
      <vt:lpstr>Target Users</vt:lpstr>
      <vt:lpstr>Business impact</vt:lpstr>
      <vt:lpstr>PowerPoint Presentation</vt:lpstr>
      <vt:lpstr>How LOOK Works:   Step-by-Step Process Flow</vt:lpstr>
      <vt:lpstr>Thank you! Stay tuned to discover your perfect look.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Hemara Nimtharu</dc:creator>
  <cp:lastModifiedBy>Hemara Nimtharu</cp:lastModifiedBy>
  <cp:revision>5</cp:revision>
  <dcterms:created xsi:type="dcterms:W3CDTF">2025-12-09T16:46:35Z</dcterms:created>
  <dcterms:modified xsi:type="dcterms:W3CDTF">2025-12-10T08:55:18Z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